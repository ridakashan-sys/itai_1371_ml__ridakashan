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8"/>
  </p:notesMasterIdLst>
  <p:handoutMasterIdLst>
    <p:handoutMasterId r:id="rId19"/>
  </p:handoutMasterIdLst>
  <p:sldIdLst>
    <p:sldId id="289" r:id="rId5"/>
    <p:sldId id="276" r:id="rId6"/>
    <p:sldId id="261" r:id="rId7"/>
    <p:sldId id="264" r:id="rId8"/>
    <p:sldId id="265" r:id="rId9"/>
    <p:sldId id="263" r:id="rId10"/>
    <p:sldId id="268" r:id="rId11"/>
    <p:sldId id="266" r:id="rId12"/>
    <p:sldId id="267" r:id="rId13"/>
    <p:sldId id="290" r:id="rId14"/>
    <p:sldId id="291" r:id="rId15"/>
    <p:sldId id="292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BE2FE-95A3-9E90-0BC0-A609AB623535}" v="621" dt="2025-11-12T23:24:30.076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Roles:</a:t>
            </a:r>
          </a:p>
          <a:p>
            <a:r>
              <a:rPr lang="en-US" dirty="0"/>
              <a:t>Rida: Ai Ethicist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Neha </a:t>
            </a:r>
            <a:r>
              <a:rPr lang="en-US" dirty="0" err="1"/>
              <a:t>Kurji</a:t>
            </a:r>
            <a:r>
              <a:rPr lang="en-US" dirty="0"/>
              <a:t> : Product Manager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Jun Fu: </a:t>
            </a:r>
            <a:r>
              <a:rPr lang="en-US" dirty="0"/>
              <a:t>Consumer Advocate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Emmanuel: </a:t>
            </a:r>
            <a:r>
              <a:rPr lang="en-US" dirty="0"/>
              <a:t>Data Scientist and Government Regulator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Product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Product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Product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Data Scientist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AI Ethicist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Consumer Advocate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Government Regulator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Presenter:</a:t>
            </a:r>
            <a:r>
              <a:rPr lang="en-US"/>
              <a:t> Product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0"/>
              <a:t>Responsible AI - Designing a Responsible AI</a:t>
            </a:r>
          </a:p>
          <a:p>
            <a:endParaRPr lang="en-US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5614191" y="3870"/>
            <a:ext cx="6578801" cy="689457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F51285-843D-0BE7-366D-F70787F82B57}"/>
              </a:ext>
            </a:extLst>
          </p:cNvPr>
          <p:cNvSpPr txBox="1"/>
          <p:nvPr/>
        </p:nvSpPr>
        <p:spPr>
          <a:xfrm>
            <a:off x="1015999" y="3450166"/>
            <a:ext cx="353695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Walbaum Display Light"/>
              </a:rPr>
              <a:t>Group 2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679913"/>
            <a:ext cx="9144000" cy="3361254"/>
          </a:xfrm>
          <a:noFill/>
        </p:spPr>
        <p:txBody>
          <a:bodyPr anchor="b"/>
          <a:lstStyle/>
          <a:p>
            <a:r>
              <a:rPr lang="en-US" i="0" err="1">
                <a:ea typeface="+mj-lt"/>
                <a:cs typeface="+mj-lt"/>
              </a:rPr>
              <a:t>MindCare</a:t>
            </a:r>
            <a:r>
              <a:rPr lang="en-US" i="0">
                <a:ea typeface="+mj-lt"/>
                <a:cs typeface="+mj-lt"/>
              </a:rPr>
              <a:t> – AI Mental Health Assistant</a:t>
            </a:r>
            <a:endParaRPr lang="en-US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78CE61-E49D-955B-AAC6-65CEC3D7D3CF}"/>
              </a:ext>
            </a:extLst>
          </p:cNvPr>
          <p:cNvSpPr txBox="1"/>
          <p:nvPr/>
        </p:nvSpPr>
        <p:spPr>
          <a:xfrm>
            <a:off x="3439583" y="1682750"/>
            <a:ext cx="53149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Walbaum Display Light"/>
                <a:ea typeface="+mn-lt"/>
                <a:cs typeface="+mn-lt"/>
              </a:rPr>
              <a:t>Ethical and Societal Implications of AI in Mental Health</a:t>
            </a:r>
            <a:endParaRPr lang="en-US" sz="2400">
              <a:latin typeface="Walbaum Display Light"/>
            </a:endParaRP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Overview of </a:t>
            </a:r>
            <a:r>
              <a:rPr lang="en-US" i="0" err="1">
                <a:ea typeface="+mj-lt"/>
                <a:cs typeface="+mj-lt"/>
              </a:rPr>
              <a:t>MindCare</a:t>
            </a:r>
            <a:endParaRPr lang="en-US" err="1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AI-based virtual therapist for stress, anxiety, and depression</a:t>
            </a: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Provides 24/7 support via chat or voice</a:t>
            </a: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Uses natural language processing (NLP) to detect emotional tone</a:t>
            </a: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Recommends coping strategies and connects to professionals if needed</a:t>
            </a: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Goal: Improve accessibility to mental health support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Target Users &amp; Data Sources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41878" y="2032663"/>
            <a:ext cx="4463005" cy="4067492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Target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Users: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Teens and adults seeking emotional support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People with limited access to therapy</a:t>
            </a: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Organizations promoting mental wellness</a:t>
            </a:r>
          </a:p>
          <a:p>
            <a:pPr lvl="1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Data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Sources: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User messages and voice inputs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Optional wearable device data</a:t>
            </a: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Publicly available, de-identified mental health datasets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Technical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43816" y="1536330"/>
            <a:ext cx="6007261" cy="406749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Uses NLP models for emotion detection and conversation flow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Trained on diverse, anonymized mental health datasets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Includes bias-detection tools to ensure fairness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Data encrypted and anonymized for privacy</a:t>
            </a:r>
          </a:p>
          <a:p>
            <a:pPr lvl="1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Regular updates and human review for accuracy</a:t>
            </a:r>
            <a:endParaRPr lang="en-US">
              <a:solidFill>
                <a:schemeClr val="tx1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Ethical Considerations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/>
              <a:buChar char="Ø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Bias: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AI may misinterpret emotions from different cultural or language backgrounds</a:t>
            </a:r>
          </a:p>
          <a:p>
            <a:pPr marL="285750" indent="-285750">
              <a:buFont typeface="Wingdings"/>
              <a:buChar char="Ø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Privacy: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Highly sensitive emotional data must be securely handled</a:t>
            </a:r>
          </a:p>
          <a:p>
            <a:pPr marL="285750" indent="-285750">
              <a:buFont typeface="Wingdings"/>
              <a:buChar char="Ø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Transparency: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Users must know they are talking to AI, not a human therapist</a:t>
            </a:r>
          </a:p>
          <a:p>
            <a:pPr marL="285750" indent="-285750">
              <a:buFont typeface="Wingdings"/>
              <a:buChar char="Ø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Accountability: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Who is liable if AI gives incorrect advice?</a:t>
            </a:r>
          </a:p>
          <a:p>
            <a:pPr marL="285750" indent="-285750">
              <a:buFont typeface="Wingdings"/>
              <a:buChar char="Ø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Fairness: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Must ensure inclusivity and equal access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571"/>
            <a:ext cx="10330405" cy="1325563"/>
          </a:xfrm>
          <a:noFill/>
        </p:spPr>
        <p:txBody>
          <a:bodyPr>
            <a:noAutofit/>
          </a:bodyPr>
          <a:lstStyle/>
          <a:p>
            <a:r>
              <a:rPr lang="en-US"/>
              <a:t> </a:t>
            </a:r>
            <a:r>
              <a:rPr lang="en-US" i="0">
                <a:ea typeface="+mj-lt"/>
                <a:cs typeface="+mj-lt"/>
              </a:rPr>
              <a:t>User Rights and Consumer Protection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2323" y="1832259"/>
            <a:ext cx="10072935" cy="4748246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Users have the right to data ownership and to delete their data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Must give informed consent before using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MindCare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AI must avoid emotional manipulation or dependency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Clear disclaimers: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MindCare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is not a replacement for licensed therapy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Transparent reporting on how data is used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endParaRPr lang="en-US"/>
          </a:p>
          <a:p>
            <a:pPr marL="285750" indent="-285750">
              <a:buFont typeface="Wingdings" panose="020B0604020202020204" pitchFamily="34" charset="0"/>
              <a:buChar char="Ø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5463"/>
            <a:ext cx="9906000" cy="1382156"/>
          </a:xfrm>
          <a:noFill/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Regulation and Governance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Must comply with HIPAA and GDPR standards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Independent AI ethics board oversight recommended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Enforce algorithmic audits to check fairness and safety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Require age restrictions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Periodic transparency reports for accountability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Societal Impact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99631-7B66-2B68-50F5-08F6C9EDBBF2}"/>
              </a:ext>
            </a:extLst>
          </p:cNvPr>
          <p:cNvSpPr txBox="1"/>
          <p:nvPr/>
        </p:nvSpPr>
        <p:spPr>
          <a:xfrm>
            <a:off x="1324707" y="2227384"/>
            <a:ext cx="522849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ea typeface="+mn-lt"/>
                <a:cs typeface="+mn-lt"/>
              </a:rPr>
              <a:t>Positive:</a:t>
            </a:r>
            <a:endParaRPr lang="en-US" sz="2400"/>
          </a:p>
          <a:p>
            <a:pPr marL="285750" indent="-285750">
              <a:buFont typeface="Wingdings"/>
              <a:buChar char="Ø"/>
            </a:pPr>
            <a:r>
              <a:rPr lang="en-US" sz="2400">
                <a:ea typeface="+mn-lt"/>
                <a:cs typeface="+mn-lt"/>
              </a:rPr>
              <a:t>Reduces therapy barriers and stigma</a:t>
            </a:r>
            <a:endParaRPr lang="en-US" sz="2400"/>
          </a:p>
          <a:p>
            <a:pPr marL="285750" indent="-285750">
              <a:buFont typeface="Wingdings"/>
              <a:buChar char="Ø"/>
            </a:pPr>
            <a:r>
              <a:rPr lang="en-US" sz="2400">
                <a:ea typeface="+mn-lt"/>
                <a:cs typeface="+mn-lt"/>
              </a:rPr>
              <a:t>Provides scalable, accessible mental health aid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Negative:</a:t>
            </a:r>
            <a:endParaRPr lang="en-US" sz="2400"/>
          </a:p>
          <a:p>
            <a:pPr marL="285750" indent="-285750">
              <a:buFont typeface="Wingdings"/>
              <a:buChar char="Ø"/>
            </a:pPr>
            <a:r>
              <a:rPr lang="en-US" sz="2400">
                <a:ea typeface="+mn-lt"/>
                <a:cs typeface="+mn-lt"/>
              </a:rPr>
              <a:t>Over-reliance on AI for emotional care</a:t>
            </a:r>
            <a:endParaRPr lang="en-US" sz="2400"/>
          </a:p>
          <a:p>
            <a:pPr marL="285750" indent="-285750">
              <a:buFont typeface="Wingdings"/>
              <a:buChar char="Ø"/>
            </a:pPr>
            <a:r>
              <a:rPr lang="en-US" sz="2400">
                <a:ea typeface="+mn-lt"/>
                <a:cs typeface="+mn-lt"/>
              </a:rPr>
              <a:t>Risk of privacy breaches</a:t>
            </a:r>
            <a:endParaRPr lang="en-US" sz="2400"/>
          </a:p>
          <a:p>
            <a:pPr marL="285750" indent="-285750">
              <a:buFont typeface="Wingdings"/>
              <a:buChar char="Ø"/>
            </a:pPr>
            <a:r>
              <a:rPr lang="en-US" sz="2400">
                <a:ea typeface="+mn-lt"/>
                <a:cs typeface="+mn-lt"/>
              </a:rPr>
              <a:t>May reduce demand for human therapists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1D8699-067D-4768-9F87-3E302B37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1BEC1-44AC-3CAA-09FB-4B631A32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33401"/>
            <a:ext cx="8695167" cy="16778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>
                <a:ea typeface="+mj-lt"/>
                <a:cs typeface="+mj-lt"/>
              </a:rPr>
              <a:t>Group Panel Discussion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4358640" cy="533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-10633"/>
            <a:ext cx="1398104" cy="4450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087726-EFA7-48B6-8527-80902BB55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282519" y="-10633"/>
            <a:ext cx="1909481" cy="50547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4CA14D-52DC-4F3C-A1CE-235B99A17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02400" y="0"/>
            <a:ext cx="5689600" cy="1633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718313"/>
            <a:ext cx="5357757" cy="11503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950BAB-F521-4A52-A263-D10578977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779565" y="6033977"/>
            <a:ext cx="3412435" cy="83465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FF0933-D4D6-307D-61EF-E1536D05C8A1}"/>
              </a:ext>
            </a:extLst>
          </p:cNvPr>
          <p:cNvSpPr txBox="1"/>
          <p:nvPr/>
        </p:nvSpPr>
        <p:spPr>
          <a:xfrm>
            <a:off x="1453661" y="2133600"/>
            <a:ext cx="36693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277315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AE0423-BDD0-446E-8E7E-AD39C661C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954"/>
            <a:ext cx="12192000" cy="68510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F4B48C8-2A0F-488D-AD2B-830223850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7150" y="0"/>
            <a:ext cx="755498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AA2BB249-4F8A-F5BE-EDA4-A8C09E05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31" y="1102360"/>
            <a:ext cx="3812717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>
                <a:ea typeface="+mj-lt"/>
                <a:cs typeface="+mj-lt"/>
              </a:rPr>
              <a:t>Conclusion</a:t>
            </a:r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6BEB5BD-6C08-40C8-8912-A7FAB7C45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94040" y="0"/>
            <a:ext cx="322728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3BB3694-502F-015D-907A-B196EDCE3495}"/>
              </a:ext>
            </a:extLst>
          </p:cNvPr>
          <p:cNvSpPr txBox="1"/>
          <p:nvPr/>
        </p:nvSpPr>
        <p:spPr>
          <a:xfrm>
            <a:off x="5277099" y="1891847"/>
            <a:ext cx="583766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err="1">
                <a:ea typeface="+mn-lt"/>
                <a:cs typeface="+mn-lt"/>
              </a:rPr>
              <a:t>MindCare</a:t>
            </a:r>
            <a:r>
              <a:rPr lang="en-US">
                <a:ea typeface="+mn-lt"/>
                <a:cs typeface="+mn-lt"/>
              </a:rPr>
              <a:t> demonstrates potential for ethical AI use in healthcare.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Balances innovation with accountability and privacy.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Promotes fair, transparent, and compassionate AI solutions.</a:t>
            </a:r>
            <a:endParaRPr lang="en-US"/>
          </a:p>
          <a:p>
            <a:pPr marL="285750" indent="-285750">
              <a:buFont typeface="Wingdings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1D8699-067D-4768-9F87-3E302B37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922CC5-36CE-110C-AEE8-6BFE8489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68" y="263770"/>
            <a:ext cx="8695167" cy="16778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References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4358640" cy="533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-10633"/>
            <a:ext cx="1398104" cy="4450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087726-EFA7-48B6-8527-80902BB55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282519" y="-10633"/>
            <a:ext cx="1909481" cy="50547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4CA14D-52DC-4F3C-A1CE-235B99A17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02400" y="0"/>
            <a:ext cx="5689600" cy="1633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718313"/>
            <a:ext cx="5357757" cy="11503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950BAB-F521-4A52-A263-D10578977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779565" y="6033977"/>
            <a:ext cx="3412435" cy="83465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306D67-7DFD-70E8-47D8-A3498DE891B8}"/>
              </a:ext>
            </a:extLst>
          </p:cNvPr>
          <p:cNvSpPr txBox="1"/>
          <p:nvPr/>
        </p:nvSpPr>
        <p:spPr>
          <a:xfrm>
            <a:off x="1184030" y="1500553"/>
            <a:ext cx="1030458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</a:t>
            </a:r>
            <a:r>
              <a:rPr lang="en-US">
                <a:ea typeface="+mn-lt"/>
                <a:cs typeface="+mn-lt"/>
              </a:rPr>
              <a:t>AI Ethics and Mental Health:</a:t>
            </a:r>
          </a:p>
          <a:p>
            <a:endParaRPr lang="en-US"/>
          </a:p>
          <a:p>
            <a:pPr marL="342900" indent="-342900">
              <a:buAutoNum type="arabicPeriod"/>
            </a:pPr>
            <a:r>
              <a:rPr lang="en-US">
                <a:ea typeface="+mn-lt"/>
                <a:cs typeface="+mn-lt"/>
              </a:rPr>
              <a:t>Mittelstadt, B. D., </a:t>
            </a:r>
            <a:r>
              <a:rPr lang="en-US" err="1">
                <a:ea typeface="+mn-lt"/>
                <a:cs typeface="+mn-lt"/>
              </a:rPr>
              <a:t>Allo</a:t>
            </a:r>
            <a:r>
              <a:rPr lang="en-US">
                <a:ea typeface="+mn-lt"/>
                <a:cs typeface="+mn-lt"/>
              </a:rPr>
              <a:t>, P., Taddeo, M., Wachter, S., &amp; </a:t>
            </a:r>
            <a:r>
              <a:rPr lang="en-US" err="1">
                <a:ea typeface="+mn-lt"/>
                <a:cs typeface="+mn-lt"/>
              </a:rPr>
              <a:t>Floridi</a:t>
            </a:r>
            <a:r>
              <a:rPr lang="en-US">
                <a:ea typeface="+mn-lt"/>
                <a:cs typeface="+mn-lt"/>
              </a:rPr>
              <a:t>, L. (2016). </a:t>
            </a:r>
            <a:r>
              <a:rPr lang="en-US" i="1">
                <a:ea typeface="+mn-lt"/>
                <a:cs typeface="+mn-lt"/>
              </a:rPr>
              <a:t>The ethics of algorithms: Mapping the debate</a:t>
            </a:r>
            <a:r>
              <a:rPr lang="en-US">
                <a:ea typeface="+mn-lt"/>
                <a:cs typeface="+mn-lt"/>
              </a:rPr>
              <a:t>. Big Data &amp; Society, 3(2), 1–21.</a:t>
            </a:r>
          </a:p>
          <a:p>
            <a:pPr marL="342900" indent="-342900">
              <a:buAutoNum type="arabicPeriod"/>
            </a:pPr>
            <a:r>
              <a:rPr lang="en-US">
                <a:ea typeface="+mn-lt"/>
                <a:cs typeface="+mn-lt"/>
              </a:rPr>
              <a:t>Jobin, A., Ienca, M., &amp; </a:t>
            </a:r>
            <a:r>
              <a:rPr lang="en-US" err="1">
                <a:ea typeface="+mn-lt"/>
                <a:cs typeface="+mn-lt"/>
              </a:rPr>
              <a:t>Vayena</a:t>
            </a:r>
            <a:r>
              <a:rPr lang="en-US">
                <a:ea typeface="+mn-lt"/>
                <a:cs typeface="+mn-lt"/>
              </a:rPr>
              <a:t>, E. (2019). </a:t>
            </a:r>
            <a:r>
              <a:rPr lang="en-US" i="1">
                <a:ea typeface="+mn-lt"/>
                <a:cs typeface="+mn-lt"/>
              </a:rPr>
              <a:t>The global landscape of AI ethics guidelines</a:t>
            </a:r>
            <a:r>
              <a:rPr lang="en-US">
                <a:ea typeface="+mn-lt"/>
                <a:cs typeface="+mn-lt"/>
              </a:rPr>
              <a:t>. Nature Machine Intelligence, 1(9), 389–399.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Data Privacy and Regulation:</a:t>
            </a:r>
            <a:endParaRPr lang="en-US"/>
          </a:p>
          <a:p>
            <a:endParaRPr lang="en-US"/>
          </a:p>
          <a:p>
            <a:r>
              <a:rPr lang="en-US"/>
              <a:t>3. </a:t>
            </a:r>
            <a:r>
              <a:rPr lang="en-US">
                <a:ea typeface="+mn-lt"/>
                <a:cs typeface="+mn-lt"/>
              </a:rPr>
              <a:t> U.S. Department of Health &amp; Human Services. (2013). </a:t>
            </a:r>
            <a:r>
              <a:rPr lang="en-US" i="1">
                <a:ea typeface="+mn-lt"/>
                <a:cs typeface="+mn-lt"/>
              </a:rPr>
              <a:t>Summary of the HIPAA Privacy Rule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Bias and Fairness in AI:</a:t>
            </a:r>
          </a:p>
          <a:p>
            <a:endParaRPr lang="en-US"/>
          </a:p>
          <a:p>
            <a:r>
              <a:rPr lang="en-US"/>
              <a:t>4. </a:t>
            </a:r>
            <a:r>
              <a:rPr lang="en-US">
                <a:ea typeface="+mn-lt"/>
                <a:cs typeface="+mn-lt"/>
              </a:rPr>
              <a:t>Mehrabi, N., </a:t>
            </a:r>
            <a:r>
              <a:rPr lang="en-US" err="1">
                <a:ea typeface="+mn-lt"/>
                <a:cs typeface="+mn-lt"/>
              </a:rPr>
              <a:t>Morstatter</a:t>
            </a:r>
            <a:r>
              <a:rPr lang="en-US">
                <a:ea typeface="+mn-lt"/>
                <a:cs typeface="+mn-lt"/>
              </a:rPr>
              <a:t>, F., Saxena, N., Lerman, K., &amp; Galstyan, A. (2021). </a:t>
            </a:r>
            <a:r>
              <a:rPr lang="en-US" i="1">
                <a:ea typeface="+mn-lt"/>
                <a:cs typeface="+mn-lt"/>
              </a:rPr>
              <a:t>A survey on bias and fairness in machine learning</a:t>
            </a:r>
            <a:r>
              <a:rPr lang="en-US">
                <a:ea typeface="+mn-lt"/>
                <a:cs typeface="+mn-lt"/>
              </a:rPr>
              <a:t>. ACM Computing Surveys, 54(6), 1–35.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7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846AD4-435D-4592-8088-FE2831A30D1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6283731-47E9-4F14-86D1-57C1EA2672A1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Application>Microsoft Office PowerPoint</Application>
  <PresentationFormat>Widescreen</PresentationFormat>
  <Slides>13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AngleLinesVTI</vt:lpstr>
      <vt:lpstr>Responsible AI - Designing a Responsible AI </vt:lpstr>
      <vt:lpstr>MindCare – AI Mental Health Assistant</vt:lpstr>
      <vt:lpstr>Overview of MindCare</vt:lpstr>
      <vt:lpstr>Target Users &amp; Data Sources</vt:lpstr>
      <vt:lpstr>Technical Overview</vt:lpstr>
      <vt:lpstr>Ethical Considerations</vt:lpstr>
      <vt:lpstr> User Rights and Consumer Protection</vt:lpstr>
      <vt:lpstr>Regulation and Governance</vt:lpstr>
      <vt:lpstr>Societal Impact</vt:lpstr>
      <vt:lpstr>Group Panel Discussion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2025-11-12T21:36:15Z</dcterms:created>
  <dcterms:modified xsi:type="dcterms:W3CDTF">2025-11-13T05:43:28Z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